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ECBD119-7240-4486-B153-A611A44F31E7}">
          <p14:sldIdLst>
            <p14:sldId id="256"/>
            <p14:sldId id="257"/>
            <p14:sldId id="258"/>
            <p14:sldId id="259"/>
          </p14:sldIdLst>
        </p14:section>
        <p14:section name="Seção sem Título" id="{2F8EAEC6-0EFA-4D0B-9577-EF08A7C894B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0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89A"/>
    <a:srgbClr val="F7F6D7"/>
    <a:srgbClr val="4D87A8"/>
    <a:srgbClr val="FFA96C"/>
    <a:srgbClr val="008B8B"/>
    <a:srgbClr val="B0232B"/>
    <a:srgbClr val="F77273"/>
    <a:srgbClr val="3057AB"/>
    <a:srgbClr val="6A5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B727-78D3-4CFC-BC0B-1118593CE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E1649-5ADC-49BE-8D0D-F44DC5070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F6962D-4064-4CC7-9D9A-5D9CA247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DDCC55-F021-4455-A7F6-EE62C7537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6AC891-12F3-47FF-8946-547993A7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83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DBEAF-A9B5-4E63-83D5-7FA8E669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63044F-AB0D-4F1F-A2AC-5D578E8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750BB4-9085-45F5-BF67-31851031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EDC546-E73C-405A-85C6-EA5F6646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7584C4-61B6-4F15-8E89-61248D1B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5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7E287-E110-4166-9AAD-EBCDB05F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199F45-0A44-42F2-8E05-D5571F913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7818E8-F477-42CE-A974-1B669BF0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C74944-ADB3-48EC-9860-727622C5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A0DB99-CEB1-4E18-9DF1-88466A32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36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21035-3560-4771-B99D-E1C0051D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495591-FB96-48CC-B7E6-D07106136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20D67C-1A46-4BF6-98B1-114FD787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B3C06B-2328-4FF1-887C-FACFE8D3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E43F8B-5F0E-48DB-9FB4-5AE07850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F35DD4-7BCB-4C22-A88B-F37FF04E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3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CFEAC-8AD2-49EB-8F80-71A70663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0F1B4D-AE21-42CA-A965-A5EFD76C5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56EE89-4A37-4992-808C-5561346C7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EC8ED7-CAAD-4A64-AB0D-C9D6C7D5D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B0E636-E025-46E1-868F-6A7CDFA98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BB2552-AF9F-44EB-A27E-76156009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0D2519-1C17-4407-951B-89559623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D200D4-1D0A-4C8A-8FBE-36A0C9BE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67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FB385-DFD9-4B9F-9C54-B2770C3E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62EAE3-F0E6-4DDC-8B1D-2013769E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786B76-42ED-4D41-B468-01FB4A20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11B0EC-2083-454F-BC72-D2E3381A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61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DF2D54-A2D6-4A7C-82BA-B67990FB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2BCF6E-974C-4775-8F8E-CA250D09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B23B95-8B5C-4674-8F5C-7DD0B7E4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42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D17C3-59D8-4D25-A2DD-02CB8022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E86C55-D849-4463-B6C9-2F9FFD1A7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1462DD-D9B1-4B7F-9172-EEA1D1B57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28319F-6BF3-442D-8186-1BB570B7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A667E4-543C-4505-83AC-211E0E3B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000A06-D3F5-4156-942F-D907C044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78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B43C7-4974-4028-AE58-926977FB4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8BCC14-4E26-4CED-9708-ED036F639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910A95-3E78-45A4-9FAE-6390A9A1C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B90A94-AF60-4723-BF4A-B35682A4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3AAA0F-CBD9-45D3-955D-1DE1A75C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120494-7324-4C36-9F7D-F2628B51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36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440D2-0B20-4C81-883E-B2F48788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963582-48B3-44B3-85A9-C28AF7156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150A73-4999-438A-B8D0-B4EE7331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96CB5-C826-4621-9F5B-13179FBF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6DDF15-5D4E-448D-8BE5-4E24B801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32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FDB1A3-B291-4B21-A929-DA3A782BC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EC56E8-3AF2-43E1-8A30-590EC1CA9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8934B8-91C3-4E81-BFB3-98D14ADE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A306B-D572-4D92-8C56-83DA193F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128248-80BD-4CB9-A137-B6D8E79D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75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0F6801-C90F-4DF1-B889-9F3B7726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8D99BE-FD22-41F2-A321-60A24A40B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080BC9-E907-46BC-80F4-FB7D132E5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B7EF-86EB-48FA-9C8B-D576A8E49F60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44DD41-433F-4A7F-B34B-577A68929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C45A81-F658-4391-8062-0A6FFB6E7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70775-05FE-497F-83DF-9225D63ED2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154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26150-FD62-4179-BB2A-C6129B7EF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DESIGN SYSTEMS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B494CD-826E-4ED5-B430-5ED86202F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Sistema de Manutenção Industrial</a:t>
            </a:r>
          </a:p>
          <a:p>
            <a:r>
              <a:rPr lang="pt-BR" dirty="0">
                <a:solidFill>
                  <a:schemeClr val="bg1"/>
                </a:solidFill>
              </a:rPr>
              <a:t>Lucas B, Lucas E, Pedro A, Ana J, Eduardo F</a:t>
            </a:r>
          </a:p>
        </p:txBody>
      </p:sp>
    </p:spTree>
    <p:extLst>
      <p:ext uri="{BB962C8B-B14F-4D97-AF65-F5344CB8AC3E}">
        <p14:creationId xmlns:p14="http://schemas.microsoft.com/office/powerpoint/2010/main" val="263914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DDA6E-554C-46FB-9468-ADDDEC4C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7A3420-C1F3-46C3-990A-253FD6F31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pt-BR" b="0" i="0" dirty="0">
                <a:effectLst/>
                <a:latin typeface="Mona Sans VF"/>
              </a:rPr>
              <a:t>Nosso projeto visa criar um sistema capaz de manutenção industrial para a área de brinquedos. O escopo do nosso projeto busca gerenciar máquinas, de modo que todos saibam se a máquina está funcionando ou precisa de suporte. Lembrando que esse sistema possui permissões diferentes para cada um dos seguintes cargos: funcionário, gerente e administrador.</a:t>
            </a:r>
          </a:p>
          <a:p>
            <a:pPr marL="0" indent="0" algn="l">
              <a:buNone/>
            </a:pPr>
            <a:r>
              <a:rPr lang="pt-BR" b="0" i="0" dirty="0">
                <a:effectLst/>
                <a:latin typeface="Mona Sans VF"/>
              </a:rPr>
              <a:t>Sendo possível para o funcionário: listar e atualizar máquinas e produtos.</a:t>
            </a:r>
          </a:p>
          <a:p>
            <a:pPr marL="0" indent="0" algn="l">
              <a:buNone/>
            </a:pPr>
            <a:r>
              <a:rPr lang="pt-BR" b="0" i="0" dirty="0">
                <a:effectLst/>
                <a:latin typeface="Mona Sans VF"/>
              </a:rPr>
              <a:t>Para o gerente é possível: listar, atualizar e cadastrar funcionários e máquinas.</a:t>
            </a:r>
          </a:p>
          <a:p>
            <a:pPr marL="0" indent="0" algn="l">
              <a:buNone/>
            </a:pPr>
            <a:r>
              <a:rPr lang="pt-BR" b="0" i="0" dirty="0">
                <a:effectLst/>
                <a:latin typeface="Mona Sans VF"/>
              </a:rPr>
              <a:t>Já para o administrador é possível: listar, atualizar, cadastrar e deletar funcionários, máquinas e produtos.</a:t>
            </a:r>
          </a:p>
        </p:txBody>
      </p:sp>
    </p:spTree>
    <p:extLst>
      <p:ext uri="{BB962C8B-B14F-4D97-AF65-F5344CB8AC3E}">
        <p14:creationId xmlns:p14="http://schemas.microsoft.com/office/powerpoint/2010/main" val="367426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Paleta de cores – cor principal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2549"/>
          </a:xfrm>
        </p:spPr>
        <p:txBody>
          <a:bodyPr/>
          <a:lstStyle/>
          <a:p>
            <a:r>
              <a:rPr lang="pt-BR" b="1" dirty="0"/>
              <a:t>A Cor principal da empresa é esse tom de laranja mais suave, para remeter a madeira ou amadeirado.</a:t>
            </a:r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B9D7BB-0490-4CAA-80C0-FC8B911B357A}"/>
              </a:ext>
            </a:extLst>
          </p:cNvPr>
          <p:cNvSpPr/>
          <p:nvPr/>
        </p:nvSpPr>
        <p:spPr>
          <a:xfrm>
            <a:off x="1166191" y="3294063"/>
            <a:ext cx="808383" cy="721346"/>
          </a:xfrm>
          <a:prstGeom prst="rect">
            <a:avLst/>
          </a:prstGeom>
          <a:solidFill>
            <a:srgbClr val="F7D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9CACEE-FAEF-481B-A94D-ED43416EEFFF}"/>
              </a:ext>
            </a:extLst>
          </p:cNvPr>
          <p:cNvSpPr txBox="1"/>
          <p:nvPr/>
        </p:nvSpPr>
        <p:spPr>
          <a:xfrm>
            <a:off x="2107096" y="3429000"/>
            <a:ext cx="5243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 da cor em hexadecimal. Por exemplo, #F7D89A</a:t>
            </a:r>
          </a:p>
        </p:txBody>
      </p:sp>
    </p:spTree>
    <p:extLst>
      <p:ext uri="{BB962C8B-B14F-4D97-AF65-F5344CB8AC3E}">
        <p14:creationId xmlns:p14="http://schemas.microsoft.com/office/powerpoint/2010/main" val="229781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Paleta de cores – cores secundárias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2549"/>
          </a:xfrm>
        </p:spPr>
        <p:txBody>
          <a:bodyPr/>
          <a:lstStyle/>
          <a:p>
            <a:r>
              <a:rPr lang="pt-BR" dirty="0"/>
              <a:t>Aqui, mostre a paleta de cores secundárias, que ajudarão a compor a identidade visual do sistema. Inclua aqui mais cores.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EFD78AD-BF28-44AF-8AA9-4ADDBDF88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19839"/>
              </p:ext>
            </p:extLst>
          </p:nvPr>
        </p:nvGraphicFramePr>
        <p:xfrm>
          <a:off x="1166191" y="2966899"/>
          <a:ext cx="9700592" cy="249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058">
                  <a:extLst>
                    <a:ext uri="{9D8B030D-6E8A-4147-A177-3AD203B41FA5}">
                      <a16:colId xmlns:a16="http://schemas.microsoft.com/office/drawing/2014/main" val="302106011"/>
                    </a:ext>
                  </a:extLst>
                </a:gridCol>
                <a:gridCol w="1953058">
                  <a:extLst>
                    <a:ext uri="{9D8B030D-6E8A-4147-A177-3AD203B41FA5}">
                      <a16:colId xmlns:a16="http://schemas.microsoft.com/office/drawing/2014/main" val="3053171760"/>
                    </a:ext>
                  </a:extLst>
                </a:gridCol>
                <a:gridCol w="2107488">
                  <a:extLst>
                    <a:ext uri="{9D8B030D-6E8A-4147-A177-3AD203B41FA5}">
                      <a16:colId xmlns:a16="http://schemas.microsoft.com/office/drawing/2014/main" val="1664650903"/>
                    </a:ext>
                  </a:extLst>
                </a:gridCol>
                <a:gridCol w="1571824">
                  <a:extLst>
                    <a:ext uri="{9D8B030D-6E8A-4147-A177-3AD203B41FA5}">
                      <a16:colId xmlns:a16="http://schemas.microsoft.com/office/drawing/2014/main" val="1986077375"/>
                    </a:ext>
                  </a:extLst>
                </a:gridCol>
                <a:gridCol w="2115164">
                  <a:extLst>
                    <a:ext uri="{9D8B030D-6E8A-4147-A177-3AD203B41FA5}">
                      <a16:colId xmlns:a16="http://schemas.microsoft.com/office/drawing/2014/main" val="2036015386"/>
                    </a:ext>
                  </a:extLst>
                </a:gridCol>
              </a:tblGrid>
              <a:tr h="605032">
                <a:tc>
                  <a:txBody>
                    <a:bodyPr/>
                    <a:lstStyle/>
                    <a:p>
                      <a:pPr algn="l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Nome da cor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Código em hexadecimal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Locais utilizados no Sistema WEB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98241"/>
                  </a:ext>
                </a:extLst>
              </a:tr>
              <a:tr h="605032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rgbClr val="FFFFFF"/>
                          </a:solidFill>
                          <a:effectLst/>
                        </a:rPr>
                        <a:t>Azul-Glaciar</a:t>
                      </a:r>
                      <a:endParaRPr lang="pt-BR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rgbClr val="FFFFFF"/>
                          </a:solidFill>
                          <a:effectLst/>
                        </a:rPr>
                        <a:t>#4D87A8</a:t>
                      </a:r>
                      <a:endParaRPr lang="pt-BR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rgbClr val="FFFFFF"/>
                          </a:solidFill>
                          <a:effectLst/>
                        </a:rPr>
                        <a:t>(77,135,168)</a:t>
                      </a:r>
                      <a:endParaRPr lang="pt-BR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Tela Principal e Cabeçalho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1957"/>
                  </a:ext>
                </a:extLst>
              </a:tr>
              <a:tr h="605032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Vermelho-</a:t>
                      </a:r>
                      <a:r>
                        <a:rPr lang="pt-BR" dirty="0" err="1">
                          <a:solidFill>
                            <a:schemeClr val="bg1"/>
                          </a:solidFill>
                        </a:rPr>
                        <a:t>Carmin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#B0232B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(176,35,43)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Cabeçalho e rodapé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621512"/>
                  </a:ext>
                </a:extLst>
              </a:tr>
              <a:tr h="605032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 err="1"/>
                        <a:t>Ecru</a:t>
                      </a:r>
                      <a:endParaRPr lang="pt-BR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#F7F6D7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(247,246,215)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Botões e tabelas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982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78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Paleta de cores – psicologia das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82481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Aqui iremos demonstrar as cores escolhidas para o nosso site e que sensação elas transmitem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EFD78AD-BF28-44AF-8AA9-4ADDBDF88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09103"/>
              </p:ext>
            </p:extLst>
          </p:nvPr>
        </p:nvGraphicFramePr>
        <p:xfrm>
          <a:off x="1013001" y="2785374"/>
          <a:ext cx="9780106" cy="3432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654">
                  <a:extLst>
                    <a:ext uri="{9D8B030D-6E8A-4147-A177-3AD203B41FA5}">
                      <a16:colId xmlns:a16="http://schemas.microsoft.com/office/drawing/2014/main" val="302106011"/>
                    </a:ext>
                  </a:extLst>
                </a:gridCol>
                <a:gridCol w="7574452">
                  <a:extLst>
                    <a:ext uri="{9D8B030D-6E8A-4147-A177-3AD203B41FA5}">
                      <a16:colId xmlns:a16="http://schemas.microsoft.com/office/drawing/2014/main" val="3053171760"/>
                    </a:ext>
                  </a:extLst>
                </a:gridCol>
              </a:tblGrid>
              <a:tr h="340406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SENSAÇÃO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98241"/>
                  </a:ext>
                </a:extLst>
              </a:tr>
              <a:tr h="682635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8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Essa cor serve para demonstrar que a empresa e o site também remetem a seriedade e comprometimento com o trabalho.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777561"/>
                  </a:ext>
                </a:extLst>
              </a:tr>
              <a:tr h="671306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Essa cor é feita para ser algo mais divertido pois o laranja transmite a sensação de paz e alegria.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848343"/>
                  </a:ext>
                </a:extLst>
              </a:tr>
              <a:tr h="798521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Essa cor serve pra remeter a tranquilidade e não hiper estimular o usuário e para remeter o amadeirado do brinquedo.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837506"/>
                  </a:ext>
                </a:extLst>
              </a:tr>
              <a:tr h="792977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32B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solidFill>
                            <a:schemeClr val="tx1"/>
                          </a:solidFill>
                          <a:effectLst/>
                        </a:rPr>
                        <a:t>Essa cor é para remeter 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ao universo infantil e aos brinquedos, comunicar que a empresa fabrica produtos robustos e duráveis e combina com máquinas, movimento e fabricação.</a:t>
                      </a:r>
                      <a:endParaRPr lang="pt-BR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982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07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Grid – número de colunas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1795029"/>
          </a:xfrm>
        </p:spPr>
        <p:txBody>
          <a:bodyPr>
            <a:normAutofit fontScale="92500"/>
          </a:bodyPr>
          <a:lstStyle/>
          <a:p>
            <a:r>
              <a:rPr lang="pt-BR" dirty="0"/>
              <a:t>Defina o número de colunas e como será o alinhamento dos elementos na página. Por exemplo, na imagem ao lado são 12 colunas.</a:t>
            </a:r>
          </a:p>
        </p:txBody>
      </p:sp>
      <p:pic>
        <p:nvPicPr>
          <p:cNvPr id="1026" name="Picture 2" descr="Image result for grid na web 12 colunas exemplos">
            <a:extLst>
              <a:ext uri="{FF2B5EF4-FFF2-40B4-BE49-F238E27FC236}">
                <a16:creationId xmlns:a16="http://schemas.microsoft.com/office/drawing/2014/main" id="{375AE8EE-5BB8-48C2-99AB-25B13CC6C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7" y="1314462"/>
            <a:ext cx="5029821" cy="520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05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603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Usamos a fonte </a:t>
            </a:r>
            <a:r>
              <a:rPr lang="pt-BR" dirty="0" err="1"/>
              <a:t>Kirang</a:t>
            </a:r>
            <a:r>
              <a:rPr lang="pt-BR" dirty="0"/>
              <a:t> </a:t>
            </a:r>
            <a:r>
              <a:rPr lang="pt-BR" dirty="0" err="1"/>
              <a:t>Haerang</a:t>
            </a:r>
            <a:r>
              <a:rPr lang="pt-BR" dirty="0"/>
              <a:t> pois ela transmite um visual mais divertido e intuitivo, que é um site que remete a produtos infantis, mas, mantendo a seriedade da empresa.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ABC0B4-2226-4C67-8D4F-5D32337CC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44" y="3528165"/>
            <a:ext cx="4229696" cy="2147950"/>
          </a:xfrm>
          <a:prstGeom prst="rect">
            <a:avLst/>
          </a:prstGeom>
        </p:spPr>
      </p:pic>
      <p:pic>
        <p:nvPicPr>
          <p:cNvPr id="1026" name="Picture 2" descr="Kirang Haerang Font | 1001 Free Fonts">
            <a:extLst>
              <a:ext uri="{FF2B5EF4-FFF2-40B4-BE49-F238E27FC236}">
                <a16:creationId xmlns:a16="http://schemas.microsoft.com/office/drawing/2014/main" id="{8FEEB76E-3841-440F-92C3-130855E07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032" y="3130652"/>
            <a:ext cx="4477230" cy="294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55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7427"/>
            <a:ext cx="10515600" cy="1603374"/>
          </a:xfrm>
        </p:spPr>
        <p:txBody>
          <a:bodyPr>
            <a:normAutofit/>
          </a:bodyPr>
          <a:lstStyle/>
          <a:p>
            <a:r>
              <a:rPr lang="pt-BR" dirty="0"/>
              <a:t>É a peça principal do manual de identidade visual.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4E7765-E8D2-4F32-A354-E6D12B806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93" y="1630828"/>
            <a:ext cx="4800076" cy="48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3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08"/>
            <a:ext cx="10515600" cy="1603374"/>
          </a:xfrm>
        </p:spPr>
        <p:txBody>
          <a:bodyPr>
            <a:normAutofit/>
          </a:bodyPr>
          <a:lstStyle/>
          <a:p>
            <a:r>
              <a:rPr lang="pt-BR" dirty="0"/>
              <a:t>Em seguida, indique a distância mínima que qualquer elemento pode ficar do logo.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B25552-D124-4FA4-B1D1-BAF1B3C07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204" y="2376055"/>
            <a:ext cx="47815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3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08"/>
            <a:ext cx="10515600" cy="1603374"/>
          </a:xfrm>
        </p:spPr>
        <p:txBody>
          <a:bodyPr>
            <a:normAutofit/>
          </a:bodyPr>
          <a:lstStyle/>
          <a:p>
            <a:r>
              <a:rPr lang="pt-BR" dirty="0"/>
              <a:t>Determine também o tamanho mínimo que o logo pode ser impresso e o máximo.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59A5C4A-AD06-4A20-8E6E-F0D560C1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274" y="2610479"/>
            <a:ext cx="2667000" cy="25336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66C4C1A-A1C2-4165-9EDB-D2D9F0777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398" y="2610479"/>
            <a:ext cx="30384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9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07"/>
            <a:ext cx="4621696" cy="4164357"/>
          </a:xfrm>
        </p:spPr>
        <p:txBody>
          <a:bodyPr>
            <a:normAutofit/>
          </a:bodyPr>
          <a:lstStyle/>
          <a:p>
            <a:r>
              <a:rPr lang="pt-BR" dirty="0"/>
              <a:t>Por fim, qual o tipo de fundo que pode haver por trás do logo, se colorido, se preto, se branco, se pode ficar sobre fundos de imagens etc.</a:t>
            </a:r>
          </a:p>
          <a:p>
            <a:r>
              <a:rPr lang="pt-BR" dirty="0"/>
              <a:t>Não esqueça de colocar a versão em preto e branco do logo e uma versão em “negativo”.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048E59-83EF-48F9-B7CE-FE633A3C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78" y="1701456"/>
            <a:ext cx="53911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6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08"/>
            <a:ext cx="10515600" cy="1603374"/>
          </a:xfrm>
        </p:spPr>
        <p:txBody>
          <a:bodyPr>
            <a:normAutofit/>
          </a:bodyPr>
          <a:lstStyle/>
          <a:p>
            <a:r>
              <a:rPr lang="pt-BR" dirty="0"/>
              <a:t>Indique as proibições aplicadas na logo.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796FA8-5A6E-42BD-A87E-179831A9C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362" y="2216495"/>
            <a:ext cx="56292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3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6EFF7E-5D2D-495A-96DB-42BB54FC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08"/>
            <a:ext cx="4167909" cy="1603374"/>
          </a:xfrm>
        </p:spPr>
        <p:txBody>
          <a:bodyPr>
            <a:normAutofit/>
          </a:bodyPr>
          <a:lstStyle/>
          <a:p>
            <a:r>
              <a:rPr lang="pt-BR" dirty="0"/>
              <a:t>Indique as proibições e permissões aplicadas na logo.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C5D285-5227-420E-92B8-0F87A4CA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376" y="1414808"/>
            <a:ext cx="49911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Ícones – PADRÃO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08A4883-C727-4A18-B315-CB061D94B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1" y="1896824"/>
            <a:ext cx="1310202" cy="1310202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4FE6994-750D-481F-900A-72F4381DC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149" y="1896824"/>
            <a:ext cx="1429472" cy="142947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8D30FAB-B8B7-4000-BA45-10AE8FAD2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14" y="1896824"/>
            <a:ext cx="1429472" cy="142947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C78EE1-AC75-43E9-8395-631008943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679" y="1997160"/>
            <a:ext cx="1228800" cy="12288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09B0194-1E95-4575-85D7-86C51F50390C}"/>
              </a:ext>
            </a:extLst>
          </p:cNvPr>
          <p:cNvSpPr txBox="1"/>
          <p:nvPr/>
        </p:nvSpPr>
        <p:spPr>
          <a:xfrm>
            <a:off x="838200" y="3650975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Usuário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967B41-4C49-4835-A19C-6E31BD3B4AE1}"/>
              </a:ext>
            </a:extLst>
          </p:cNvPr>
          <p:cNvSpPr txBox="1"/>
          <p:nvPr/>
        </p:nvSpPr>
        <p:spPr>
          <a:xfrm>
            <a:off x="2923566" y="3657602"/>
            <a:ext cx="120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Dashboard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8D80B84-E2DB-44DA-B184-617CF0E54B46}"/>
              </a:ext>
            </a:extLst>
          </p:cNvPr>
          <p:cNvSpPr txBox="1"/>
          <p:nvPr/>
        </p:nvSpPr>
        <p:spPr>
          <a:xfrm>
            <a:off x="5575108" y="3664229"/>
            <a:ext cx="8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Vendas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ADA9B09-363E-4BFF-A273-809D9BB3A07E}"/>
              </a:ext>
            </a:extLst>
          </p:cNvPr>
          <p:cNvSpPr txBox="1"/>
          <p:nvPr/>
        </p:nvSpPr>
        <p:spPr>
          <a:xfrm>
            <a:off x="8091818" y="3664229"/>
            <a:ext cx="59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Alvo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925387" y="4959927"/>
            <a:ext cx="822036" cy="6834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1819220" y="5068621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#000000</a:t>
            </a:r>
          </a:p>
        </p:txBody>
      </p:sp>
    </p:spTree>
    <p:extLst>
      <p:ext uri="{BB962C8B-B14F-4D97-AF65-F5344CB8AC3E}">
        <p14:creationId xmlns:p14="http://schemas.microsoft.com/office/powerpoint/2010/main" val="79301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31CB5-5CB1-45A9-B197-21998CE6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Botões</a:t>
            </a:r>
          </a:p>
        </p:txBody>
      </p:sp>
      <p:pic>
        <p:nvPicPr>
          <p:cNvPr id="1026" name="Picture 2" descr="Image result for botoes site">
            <a:extLst>
              <a:ext uri="{FF2B5EF4-FFF2-40B4-BE49-F238E27FC236}">
                <a16:creationId xmlns:a16="http://schemas.microsoft.com/office/drawing/2014/main" id="{BB2978A5-2B93-4670-A51B-AC80F34EE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777" y="1317858"/>
            <a:ext cx="3819208" cy="494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6853382" y="1921164"/>
            <a:ext cx="822036" cy="683491"/>
          </a:xfrm>
          <a:prstGeom prst="rect">
            <a:avLst/>
          </a:prstGeom>
          <a:solidFill>
            <a:srgbClr val="3057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53382" y="3107692"/>
            <a:ext cx="822036" cy="683491"/>
          </a:xfrm>
          <a:prstGeom prst="rect">
            <a:avLst/>
          </a:prstGeom>
          <a:solidFill>
            <a:srgbClr val="F77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7747215" y="2029858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#3057ab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747215" y="3264771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#f77273</a:t>
            </a:r>
          </a:p>
        </p:txBody>
      </p:sp>
    </p:spTree>
    <p:extLst>
      <p:ext uri="{BB962C8B-B14F-4D97-AF65-F5344CB8AC3E}">
        <p14:creationId xmlns:p14="http://schemas.microsoft.com/office/powerpoint/2010/main" val="2758659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558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Mona Sans VF</vt:lpstr>
      <vt:lpstr>Tema do Office</vt:lpstr>
      <vt:lpstr>DESIGN SYSTEMS</vt:lpstr>
      <vt:lpstr>Introdução</vt:lpstr>
      <vt:lpstr>Paleta de cores – cor principal</vt:lpstr>
      <vt:lpstr>Paleta de cores – cores secundárias</vt:lpstr>
      <vt:lpstr>Paleta de cores – psicologia das cores</vt:lpstr>
      <vt:lpstr>Grid – número de colunas</vt:lpstr>
      <vt:lpstr>Tipografia</vt:lpstr>
      <vt:lpstr>Logotipo do sistema</vt:lpstr>
      <vt:lpstr>Logotipo do sistema</vt:lpstr>
      <vt:lpstr>Logotipo do sistema</vt:lpstr>
      <vt:lpstr>Logotipo do sistema</vt:lpstr>
      <vt:lpstr>Logotipo do sistema</vt:lpstr>
      <vt:lpstr>Logotipo do sistema</vt:lpstr>
      <vt:lpstr>Ícones – PADRÃO</vt:lpstr>
      <vt:lpstr>Botões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GRÁFICO</dc:title>
  <dc:creator>Senai</dc:creator>
  <cp:lastModifiedBy>Aluno</cp:lastModifiedBy>
  <cp:revision>27</cp:revision>
  <dcterms:created xsi:type="dcterms:W3CDTF">2019-09-23T14:19:16Z</dcterms:created>
  <dcterms:modified xsi:type="dcterms:W3CDTF">2026-09-10T13:52:00Z</dcterms:modified>
</cp:coreProperties>
</file>